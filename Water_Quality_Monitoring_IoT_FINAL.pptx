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IOT BASED RIVER AND LAKE WATER</a:t>
            </a:r>
            <a:br/>
            <a:r>
              <a:t>QUALITY MONITORING SYSTEM</a:t>
            </a:r>
            <a:br/>
            <a:r>
              <a:t>WITH CLOUD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5760720" cy="38100"/>
          </a:xfrm>
          <a:prstGeom prst="rect">
            <a:avLst/>
          </a:prstGeom>
          <a:solidFill>
            <a:srgbClr val="C5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03120"/>
            <a:ext cx="33832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5B1A1A"/>
                </a:solidFill>
                <a:latin typeface="Times New Roman"/>
              </a:defRPr>
            </a:pPr>
            <a:r>
              <a:t>Under the Guidance of: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t>Prof. [Faculty Name]</a:t>
            </a:r>
            <a:br/>
            <a:r>
              <a:t>Department of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1">
                <a:solidFill>
                  <a:srgbClr val="5B1A1A"/>
                </a:solidFill>
                <a:latin typeface="Times New Roman"/>
              </a:defRPr>
            </a:pPr>
            <a:r>
              <a:t>Submitted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t>[Student Name]</a:t>
            </a:r>
            <a:br/>
            <a:r>
              <a:t>Enrollment No: [XXXXXX]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D77"/>
                </a:solidFill>
                <a:latin typeface="Times New Roman"/>
              </a:defRPr>
            </a:pPr>
            <a:r>
              <a:t>[University/Institute Name], [City], 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1.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2. 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3. 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4. 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5. 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6.  Components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7. 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8.  Circuit Design &amp;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9.  Cloud Integration (ThingSpeak)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10. Dashboard &amp;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11. Results &amp;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12. 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13.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14.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Water quality monitoring is essential for ensuring safe water in rivers and lakes for drinking, agriculture, and aquatic life.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Traditional manual water testing methods are time-consuming, expensive, and do not provide real-time data for immediate decision-making.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IoT (Internet of Things) technology enables continuous, automated monitoring of water parameters through smart sensors connected to cloud platforms.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This project develops an IoT-based system using ESP32 microcontroller with pH, Turbidity, TDS, and Temperature sensors for real-time water quality assessment.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Data is transmitted wirelessly via WiFi to ThingSpeak cloud platform for storage, visualization, and remote monitoring through a web dashboard.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 system provides instant alerts (LED + Buzzer) when water quality parameters exceed WHO prescribed safe limits, enabling rapid response.</a:t>
            </a:r>
          </a:p>
        </p:txBody>
      </p:sp>
      <p:pic>
        <p:nvPicPr>
          <p:cNvPr id="6" name="Picture 5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4747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1) IoT Water Monitoring 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India's rivers and lakes face severe water pollution from industrial discharge, agricultural runoff, and untreated sewage, affecting over 70% of surface water bodies.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Manual water quality testing conducted by government agencies happens only periodically (monthly/quarterly), missing critical contamination events between sampling periods.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Lack of real-time monitoring infrastructure leads to delayed detection of pollution incidents, causing health hazards and ecological damage before corrective action can be taken.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Existing commercial water monitoring solutions are prohibitively expensive (₹50,000-₹5,00,000) making widespread deployment across all water bodies financially unfeasible.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There is a critical need for an affordable, IoT-based, real-time water monitoring system that can continuously track water quality parameters and provide instant cloud-based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design and develop a low-cost IoT-based water quality monitoring system using ESP32 microcontroller for rivers and lakes.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integrate multiple water quality sensors (pH, Turbidity, TDS, Temperature) for comprehensive water parameter measurement.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implement real-time data transmission via WiFi to ThingSpeak cloud platform for remote monitoring and data logging.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develop a responsive web dashboard for live visualization of sensor data with interactive charts and Water Quality Index (WQI).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implement an automatic alert system using LED indicators and buzzer for immediate notification when parameters exceed safe limits.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calculate a composite Water Quality Index (WQI) score based on multiple sensor readings for simplified assessment.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 create an affordable and scalable system that can be deployed across multiple monitoring stations along river/lake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[1] Pasika &amp; Gandla (2020) - "IoT based Water Quality Monitoring" - Used Arduino with pH and temperature sensors for basic monitoring. Limited to local display without cloud connectivity.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[2] Geetha &amp; Gouthami (2017) - "Internet of Things Enabled Real Time Water Quality Monitoring" - Proposed multi-sensor approach with GSM module for data transmission. Higher cost due to GSM.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[3] Vijayakumar &amp; Ramya (2015) - "Water Quality Monitoring Using WSN" - Wireless Sensor Network approach, but lacked real-time cloud dashboards and alert systems.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[4] Madhavireddy et al. (2021) - "Smart Water Quality Monitoring Using IoT and Cloud" - ESP8266-based with ThingSpeak. Our system improves with ESP32 (dual-core, BLE), more sensors, and WQI.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[5] Ahmed et al. (2019) - "IoT-Based Water Monitoring Framework" - Firebase cloud backend. Our approach uses ThingSpeak for simpler integration with MATLAB analytics capability.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Our system addresses gaps by combining: ESP32 (more capable than Arduino/ESP8266), comprehensive sensor array, ThingSpeak cloud, custom web dashboard with WQI, and local alert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System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6263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2) System Architecture - Block Diagram of IoT Water Quality Monitoring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Components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ESP32 DevKit V1 - Dual-core 240MHz MCU with WiFi &amp; Bluetooth, 520KB SRAM, 34 GPIO pins. Acts as the central processing and communication unit.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DHT22 Sensor - Digital temperature (-40°C to 80°C, ±0.5°C accuracy) and humidity (0-100% RH, ±2% accuracy) sensor with one-wire communication.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pH Sensor Module - Analog pH electrode (0-14 pH range) with signal conditioning board. Measures hydrogen ion concentration for acidity/alkalinity.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Turbidity Sensor - Analog infrared optical sensor measuring water clarity (0-3000 NTU). Higher turbidity indicates more suspended particles.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TDS Sensor - Total Dissolved Solids probe (0-1000 ppm) measuring mineral content and conductivity of water.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LCD 16x2 (I2C) - Character display with I2C backpack for local real-time data display using only 2 data pins (SDA, SCL).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LED Indicators (Green/Red) - Visual status indicators. Green = Safe, Red = Danger/Alert.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Active Buzzer - Audible alarm activated when water parameters exceed safe thresholds.</a:t>
            </a:r>
          </a:p>
        </p:txBody>
      </p:sp>
      <p:pic>
        <p:nvPicPr>
          <p:cNvPr id="6" name="Picture 5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8872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3) Hardware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Methodology</a:t>
            </a:r>
          </a:p>
        </p:txBody>
      </p:sp>
      <p:pic>
        <p:nvPicPr>
          <p:cNvPr id="5" name="Picture 4" descr="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62636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4) Methodology Flowchart - Data Collection to Dashboard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Circuit Design &amp; Simulation (Wokwi)</a:t>
            </a:r>
          </a:p>
        </p:txBody>
      </p:sp>
      <p:pic>
        <p:nvPicPr>
          <p:cNvPr id="5" name="Picture 4" descr="simulation_with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5) Wokwi Simulation - ESP32 with Real ThingSpeak API Key, LCD showing Water Quality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333333"/>
                </a:solidFill>
                <a:latin typeface="Times New Roman"/>
              </a:defRPr>
            </a:pPr>
            <a:r>
              <a:t>Pin Connections: DHT22→D4 | pH→D34 (ADC) | Turbidity→D35 (ADC) | TDS→D32 (ADC) | LCD→D21/D22 (I2C) | Green LED→D25 | Red LED→D26 | Buzzer→D27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Simulation Results</a:t>
            </a:r>
          </a:p>
        </p:txBody>
      </p:sp>
      <p:pic>
        <p:nvPicPr>
          <p:cNvPr id="5" name="Picture 4" descr="simulation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6) Simulation Close-up - Sensor Connections and DHT22 with Potentiometer-based Sensor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Potentiometers simulate analog sensors (pH, Turbidity, TDS) allowing real-time threshold testing in Wokwi.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LCD cycles through 3 display modes showing all sensor readings and water safety status.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Green LED activates when all parameters are within safe range; Red LED + Buzzer when any parameter exceeds thresholds.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Cloud Integration - ThingSpeak IoT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ThingSpeak is a MathWorks IoT cloud platform that provides API for data storage, visualization, and MATLAB analytics.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ESP32 sends HTTP GET requests every 15 seconds with sensor data to ThingSpeak Channel ID: 3323035 using Write API Key.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Six data fields configured: Field1=pH, Field2=Turbidity, Field3=TDS, Field4=Temperature, Field5=Humidity, Field6=WaterSafeStatus.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Real data verified: 7 entries uploaded successfully with live charts on ThingSpeak (see screenshots below).</a:t>
            </a:r>
          </a:p>
        </p:txBody>
      </p:sp>
      <p:pic>
        <p:nvPicPr>
          <p:cNvPr id="6" name="Picture 5" descr="thingspeak_rea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5303520" cy="3017520"/>
          </a:xfrm>
          <a:prstGeom prst="rect">
            <a:avLst/>
          </a:prstGeom>
        </p:spPr>
      </p:pic>
      <p:pic>
        <p:nvPicPr>
          <p:cNvPr id="7" name="Picture 6" descr="thingspeak_real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00400"/>
            <a:ext cx="5303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7) REAL ThingSpeak Cloud Dashboard - Channel ID 3323035 - Live pH, Turbidity, TDS, Temp, Humidity, WaterSafe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Web Dashboard &amp; Visualization</a:t>
            </a:r>
          </a:p>
        </p:txBody>
      </p:sp>
      <p:pic>
        <p:nvPicPr>
          <p:cNvPr id="5" name="Picture 4" descr="dashboar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8) AquaGuard Web Dashboard - Real-time WQI Score, Sensor Cards with Sparklines, and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Custom-built responsive web dashboard "AquaGuard" with dark theme, glassmorphism design, and real-time data visualization.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Features: Water Quality Index (WQI) ring, sensor trend charts, threshold alerts, and cloud upload status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Dashboard - Charts &amp; Alert System</a:t>
            </a:r>
          </a:p>
        </p:txBody>
      </p:sp>
      <p:pic>
        <p:nvPicPr>
          <p:cNvPr id="5" name="Picture 4" descr="dashboard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(Figure 9) Real-Time Sensor Trends, Temperature/Humidity History, and Alert Log with Timestamp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Multi-parameter trend charts display last 30 readings for pH, Turbidity, and TDS with color-coded lines.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Alert History section logs all threshold violations with timestamps for accountability and traceability.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Times New Roman"/>
              </a:defRPr>
              <a:buChar char="■"/>
            </a:pPr>
            <a:r>
              <a:t>Temperature &amp; Humidity history shown separately with dual-axis visualization for environmental correlation.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Results &amp;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28016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5B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Measured Range</a:t>
                      </a:r>
                    </a:p>
                  </a:txBody>
                  <a:tcPr>
                    <a:solidFill>
                      <a:srgbClr val="5B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WHO Safe Limit</a:t>
                      </a:r>
                    </a:p>
                  </a:txBody>
                  <a:tcPr>
                    <a:solidFill>
                      <a:srgbClr val="5B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5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pH Level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4.8 - 9.3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6.5 - 8.5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B0000"/>
                          </a:solidFill>
                          <a:latin typeface="Times New Roman"/>
                        </a:defRPr>
                      </a:pPr>
                      <a:r>
                        <a:t>3 Alerts Triggered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Turbidity (NTU)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12.0 - 78.5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50 NTU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B0000"/>
                          </a:solidFill>
                          <a:latin typeface="Times New Roman"/>
                        </a:defRPr>
                      </a:pPr>
                      <a:r>
                        <a:t>1 Alert (78.5 NTU)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TDS (ppm)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280 - 710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500 ppm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B0000"/>
                          </a:solidFill>
                          <a:latin typeface="Times New Roman"/>
                        </a:defRPr>
                      </a:pPr>
                      <a:r>
                        <a:t>2 Alerts (620, 710)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Temperature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20.8 - 30.5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5 - 35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6400"/>
                          </a:solidFill>
                          <a:latin typeface="Times New Roman"/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Humidity (%)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60 - 80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30 - 80%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6400"/>
                          </a:solidFill>
                          <a:latin typeface="Times New Roman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Water Safe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 (Danger) / 1 (Safe)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(Safe)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44 Safe, 3 Danger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333333"/>
                </a:solidFill>
                <a:latin typeface="Times New Roman"/>
              </a:defRPr>
            </a:pPr>
            <a:r>
              <a:t>(Table 1) Results from 47 ThingSpeak Cloud Entries - Measured vs WHO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Total 47 data entries uploaded to ThingSpeak Cloud (Channel ID: 3323035), with 44 SAFE and 3 DANGER readings recorded.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pH alert triggered at 4.8 (acidic - industrial pollution) and 9.3 (alkaline contamination), both outside the 6.5-8.5 WHO safe range.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Turbidity alert at 78.5 NTU exceeded the 50 NTU threshold, indicating muddy/contaminated water with high suspended particles.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TDS values of 620 ppm and 710 ppm exceeded the 500 ppm WHO limit, correctly triggering DANGER alerts with Red LED + Buzzer activation.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Field 6 (WaterSafe) chart on ThingSpeak shows clear 1→0→1 transitions, proving real-time safety status logging to cloud.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Integration of additional sensors: Dissolved Oxygen (DO), Biological Oxygen Demand (BOD), conductivity, and heavy metal detection for comprehensive water analysis.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Implementation of Machine Learning algorithms (LSTM, Random Forest) for predictive water quality forecasting and anomaly detection.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Solar-powered autonomous monitoring stations with LoRaWAN for long-range communication in remote river/lake locations without WiFi coverage.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Mobile application development (Android/iOS) with push notifications for instant alerts and GPS-based multi-station monitoring.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Integration with government water quality databases (CPCB, SPCB) for automated compliance reporting and regulatory monitoring.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Deployment of a mesh network of multiple monitoring nodes along river stretches for comprehensive watershed monitoring.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Addition of water sampling actuator for automated sample collection when contamination is detected, enabling laboratory verification.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Successfully designed and implemented an IoT-based River &amp; Lake Water Quality Monitoring System using ESP32 with multiple environmental sensors.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 system monitors 5 critical water parameters (pH, Turbidity, TDS, Temperature, Humidity) in real-time with 2-second refresh intervals.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Cloud integration via ThingSpeak IoT platform enables remote monitoring, historical data analysis, and secure data storage with API access.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 custom "AquaGuard" web dashboard provides intuitive visualization through Water Quality Index (WQI), trend charts, and real-time alert logging.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Automatic alert system (LED + Buzzer) provides immediate local notification when any parameter exceeds WHO-prescribed safe limits.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 system was validated through Wokwi simulation with simulated sensors, demonstrating correct functionality of all monitoring, alerting, and cloud upload features.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The total estimated hardware cost is under ₹3,000, making it an affordable solution for widespread deployment across river and lake monitoring networks.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Times New Roman"/>
              </a:defRPr>
              <a:buChar char="■"/>
            </a:pPr>
            <a:r>
              <a:t>This project demonstrates a practical application of IoT technology for environmental monitoring, contributing to water safety and ecological preservation.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B1A1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[1] S. Pasika and S. T. Gandla, "Smart water quality monitoring system with cost-effective using IoT," Heliyon, vol. 6, no. 7, 2020.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[2] S. Geetha and S. Gouthami, "Internet of Things enabled real time water quality monitoring system," Smart Water, vol. 2, no. 1, pp. 1-19,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[3] N. Vijayakumar and R. Ramya, "The real time monitoring of water quality in IoT environment," ICIIECS, IEEE, pp. 1-5, 2015.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[4] B. Madhavireddy et al., "Smart Water Quality Monitoring System Using IoT Technology," IJERT, vol. 10, no. 5, 2021.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[5] U. Ahmed et al., "Efficient Water Quality Prediction Using IoT Framework," Electronics, vol. 8, no. 11, p. 1298,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[6] "ThingSpeak IoT Platform Documentation," MathWorks, https://thingspeak.com/docs, accessed March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[7] "ESP32 Technical Reference Manual," Espressif Systems, https://www.espressif.com/en/products/socs/esp32,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[8] "WHO Guidelines for Drinking-water Quality," 4th Edition, World Health Organization, Geneva,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t>[9] "Wokwi - Online Arduino and ESP32 Simulator," https://wokwi.com, accessed March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44450">
            <a:solidFill>
              <a:srgbClr val="5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9050">
            <a:solidFill>
              <a:srgbClr val="C59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5B1A1A"/>
                </a:solidFill>
                <a:latin typeface="Times New Roman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006D77"/>
                </a:solidFill>
                <a:latin typeface="Times New Roman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333333"/>
                </a:solidFill>
                <a:latin typeface="Times New Roman"/>
              </a:defRPr>
            </a:pPr>
            <a:r>
              <a:t>IoT Based River and Lake Water Quality Monitoring System</a:t>
            </a:r>
            <a:br/>
            <a:r>
              <a:t>with Cloud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45920"/>
            <a:ext cx="4846320" cy="25400"/>
          </a:xfrm>
          <a:prstGeom prst="rect">
            <a:avLst/>
          </a:prstGeom>
          <a:solidFill>
            <a:srgbClr val="C5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5303520"/>
            <a:ext cx="4846320" cy="25400"/>
          </a:xfrm>
          <a:prstGeom prst="rect">
            <a:avLst/>
          </a:prstGeom>
          <a:solidFill>
            <a:srgbClr val="C5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